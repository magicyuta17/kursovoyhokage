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9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2" r:id="rId13"/>
    <p:sldId id="269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3B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3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3/12/2026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752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pPr/>
              <a:t>3/12/2026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622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3/12/2026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896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pPr/>
              <a:t>3/12/2026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750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smtClean="0"/>
              <a:pPr/>
              <a:t>3/12/2026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9947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pPr/>
              <a:t>3/12/2026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42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pPr/>
              <a:t>3/12/2026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944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3/12/2026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4398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3/12/2026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152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pPr/>
              <a:t>3/12/2026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977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pPr/>
              <a:t>3/12/2026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333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pPr/>
              <a:t>3/12/2026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851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" y="2064183"/>
            <a:ext cx="12192000" cy="1540482"/>
          </a:xfrm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КУРСОВОЙ ПРОЕКТ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47454" y="3756280"/>
            <a:ext cx="7897091" cy="1175153"/>
          </a:xfrm>
        </p:spPr>
        <p:txBody>
          <a:bodyPr/>
          <a:lstStyle/>
          <a:p>
            <a:r>
              <a:rPr lang="ru-RU" b="1" dirty="0">
                <a:solidFill>
                  <a:srgbClr val="002060"/>
                </a:solidFill>
              </a:rPr>
              <a:t>Тема: </a:t>
            </a:r>
            <a:r>
              <a:rPr lang="ru-RU" b="1" dirty="0"/>
              <a:t>Разработка автоматизированной информационной системы для обслуживания клиентов строительной компании на базе платформы .NET.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048000" y="202935"/>
            <a:ext cx="66692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и науки Нижегородской области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136977"/>
              </p:ext>
            </p:extLst>
          </p:nvPr>
        </p:nvGraphicFramePr>
        <p:xfrm>
          <a:off x="858541" y="5083049"/>
          <a:ext cx="10723419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7765">
                  <a:extLst>
                    <a:ext uri="{9D8B030D-6E8A-4147-A177-3AD203B41FA5}">
                      <a16:colId xmlns:a16="http://schemas.microsoft.com/office/drawing/2014/main" val="856406293"/>
                    </a:ext>
                  </a:extLst>
                </a:gridCol>
                <a:gridCol w="5145654">
                  <a:extLst>
                    <a:ext uri="{9D8B030D-6E8A-4147-A177-3AD203B41FA5}">
                      <a16:colId xmlns:a16="http://schemas.microsoft.com/office/drawing/2014/main" val="3577592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Выполнил: Конкин Никита Алексеевич</a:t>
                      </a:r>
                    </a:p>
                    <a:p>
                      <a:pPr algn="l"/>
                      <a:r>
                        <a:rPr lang="ru-RU" baseline="0" dirty="0"/>
                        <a:t>                       Студент группы ИС-22Б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/>
                        <a:t>Руководитель:</a:t>
                      </a:r>
                      <a:r>
                        <a:rPr lang="ru-RU" baseline="0" dirty="0"/>
                        <a:t> Иванов Илья Александрович</a:t>
                      </a:r>
                      <a:endParaRPr lang="ru-R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6427313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5313218" y="6026360"/>
            <a:ext cx="1565564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just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Заволжье</a:t>
            </a:r>
          </a:p>
          <a:p>
            <a:pPr marL="180340" marR="180340" algn="ctr">
              <a:spcBef>
                <a:spcPts val="600"/>
              </a:spcBef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4290534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Актуальность 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37308" y="1828800"/>
            <a:ext cx="11002241" cy="4013200"/>
          </a:xfrm>
        </p:spPr>
        <p:txBody>
          <a:bodyPr/>
          <a:lstStyle/>
          <a:p>
            <a:pPr indent="0">
              <a:lnSpc>
                <a:spcPct val="100000"/>
              </a:lnSpc>
              <a:buNone/>
            </a:pPr>
            <a:r>
              <a:rPr lang="ru-RU" dirty="0"/>
              <a:t>Работа строительных компаний связана с большими объёмами данных. Ручной учёт клиентов неэффективен и ведёт к ошибкам. Автоматизированная система на платформе .NET обеспечит надёжное хранение данных, автоматизацию документов и снижение денежных затрат на лицензии и времени обучения персонала. Таким образом, разработка системы актуальна для повышения эффективности бизнеса.</a:t>
            </a:r>
          </a:p>
        </p:txBody>
      </p:sp>
    </p:spTree>
    <p:extLst>
      <p:ext uri="{BB962C8B-B14F-4D97-AF65-F5344CB8AC3E}">
        <p14:creationId xmlns:p14="http://schemas.microsoft.com/office/powerpoint/2010/main" val="3950111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A19B8FC0-EB1D-E0A6-AE8B-2ECC474DC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459" y="1710692"/>
            <a:ext cx="2039466" cy="2039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46E5B2AB-620A-9356-F4AC-9C575CEC2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230" y="4365320"/>
            <a:ext cx="1873539" cy="1933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-1" y="219671"/>
            <a:ext cx="12192000" cy="955675"/>
          </a:xfrm>
          <a:solidFill>
            <a:schemeClr val="accent6">
              <a:lumMod val="75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Обоснование выбора среды разработки и способа организации входных и выходных данных</a:t>
            </a:r>
          </a:p>
        </p:txBody>
      </p:sp>
      <p:pic>
        <p:nvPicPr>
          <p:cNvPr id="1030" name="Picture 6" descr="https://softmap.ru/upload/iblock/e54/e54939d4e36e17534d4c8d1c8b05c2e1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74" y="1987324"/>
            <a:ext cx="1190369" cy="1190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s://miro.medium.com/max/1200/1*sXIXxTtZPaylbQMgsbI4GA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2716" y="1729328"/>
            <a:ext cx="3624133" cy="17063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https://logo-download.com/wp-content/data/images/png/C++-logo.pn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54" t="14795" r="29175" b="15280"/>
          <a:stretch/>
        </p:blipFill>
        <p:spPr bwMode="auto">
          <a:xfrm>
            <a:off x="3611455" y="4561119"/>
            <a:ext cx="1194874" cy="1333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https://logos-download.com/wp-content/uploads/2016/10/Python_logo_icon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240" y="4486297"/>
            <a:ext cx="1338566" cy="1333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ttps://miro.medium.com/max/1200/1*w0u2TZpEp3WfKMrlL5jTSw.png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85" t="20641" r="25489" b="15409"/>
          <a:stretch/>
        </p:blipFill>
        <p:spPr bwMode="auto">
          <a:xfrm>
            <a:off x="1805330" y="3892838"/>
            <a:ext cx="2236641" cy="25203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https://i0.wp.com/losst.ru/wp-content/uploads/2016/12/sqlite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6963" y="4705764"/>
            <a:ext cx="1880807" cy="1253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2" descr="https://24x7servermanagement.com/wp-content/uploads/2016/09/mysql-logo.jp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4589" y="4335444"/>
            <a:ext cx="3269524" cy="178482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7707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Диаграмма вариантов использования</a:t>
            </a:r>
          </a:p>
        </p:txBody>
      </p:sp>
      <p:pic>
        <p:nvPicPr>
          <p:cNvPr id="2" name="Drawing 176966911">
            <a:extLst>
              <a:ext uri="{FF2B5EF4-FFF2-40B4-BE49-F238E27FC236}">
                <a16:creationId xmlns:a16="http://schemas.microsoft.com/office/drawing/2014/main" id="{B261AFF4-5D73-6C4D-80B4-8F33CB97A0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108" y="1627186"/>
            <a:ext cx="6296892" cy="48030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1465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Диаграмма деятельности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8D7AC9E-CDA3-8A3C-210E-6EA250D43D8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38208" y="1394692"/>
            <a:ext cx="9198695" cy="5398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313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Структура БД – </a:t>
            </a:r>
            <a:r>
              <a:rPr lang="en-US" sz="4000" dirty="0">
                <a:solidFill>
                  <a:schemeClr val="bg1"/>
                </a:solidFill>
              </a:rPr>
              <a:t>ER</a:t>
            </a:r>
            <a:r>
              <a:rPr lang="ru-RU" sz="4000" dirty="0">
                <a:solidFill>
                  <a:schemeClr val="bg1"/>
                </a:solidFill>
              </a:rPr>
              <a:t>-диаграмма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5158AB2-4B0E-3E99-981A-23B69BB02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836" y="1422920"/>
            <a:ext cx="6375054" cy="5074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540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Программные модули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8F6AEEF-2A4D-1B5D-8BA5-8DFFFE44D3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95" y="1996528"/>
            <a:ext cx="5030643" cy="4247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E367D4B-24D3-4249-6D66-B79847E0D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7103" y="1209675"/>
            <a:ext cx="5409334" cy="2910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>
            <a:extLst>
              <a:ext uri="{FF2B5EF4-FFF2-40B4-BE49-F238E27FC236}">
                <a16:creationId xmlns:a16="http://schemas.microsoft.com/office/drawing/2014/main" id="{774839FC-E3A5-ABEA-A4D6-23F7D4DA9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7103" y="4080731"/>
            <a:ext cx="4605769" cy="278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5857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</a:rPr>
              <a:t>Программные модули</a:t>
            </a:r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DF43367D-889D-1DF0-F82F-EF2C30D9E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09675"/>
            <a:ext cx="5080000" cy="3271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>
            <a:extLst>
              <a:ext uri="{FF2B5EF4-FFF2-40B4-BE49-F238E27FC236}">
                <a16:creationId xmlns:a16="http://schemas.microsoft.com/office/drawing/2014/main" id="{C520CA50-E8C6-7964-0262-8C925DEDB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3157" y="3762087"/>
            <a:ext cx="4005685" cy="264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19A78629-C096-B820-8EF8-BED177603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8842" y="3762086"/>
            <a:ext cx="3972532" cy="264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8615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>
                <a:solidFill>
                  <a:schemeClr val="bg1"/>
                </a:solidFill>
              </a:rPr>
              <a:t>Программные модули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7159963-3594-820D-F02D-B00211F1DD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7" y="2416464"/>
            <a:ext cx="4495800" cy="322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>
            <a:extLst>
              <a:ext uri="{FF2B5EF4-FFF2-40B4-BE49-F238E27FC236}">
                <a16:creationId xmlns:a16="http://schemas.microsoft.com/office/drawing/2014/main" id="{E0022290-7657-2B39-377E-4188A4FED3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927" y="1881604"/>
            <a:ext cx="3308928" cy="3674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4BDE50F6-39F4-4C8B-EED0-C8A748AAE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1986" y="1958109"/>
            <a:ext cx="3831662" cy="3306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779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>
                <a:solidFill>
                  <a:schemeClr val="bg1"/>
                </a:solidFill>
              </a:rPr>
              <a:t>Программные модули</a:t>
            </a:r>
            <a:endParaRPr lang="ru-RU" sz="4000" dirty="0">
              <a:solidFill>
                <a:schemeClr val="bg1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C85138F-9F42-C553-2F5B-B9D458FDF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54" y="2161309"/>
            <a:ext cx="4873990" cy="2971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>
            <a:extLst>
              <a:ext uri="{FF2B5EF4-FFF2-40B4-BE49-F238E27FC236}">
                <a16:creationId xmlns:a16="http://schemas.microsoft.com/office/drawing/2014/main" id="{94C9E227-272F-78CE-3844-5C638105E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255" y="1272060"/>
            <a:ext cx="3953163" cy="2511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7326B95F-3E5E-97B7-19B0-88924445D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8255" y="3728566"/>
            <a:ext cx="4136757" cy="2773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49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</a:rPr>
              <a:t>Программные модули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9EB2CF7-4261-BCA2-D8FB-122765E4C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75277"/>
            <a:ext cx="4853565" cy="3982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>
            <a:extLst>
              <a:ext uri="{FF2B5EF4-FFF2-40B4-BE49-F238E27FC236}">
                <a16:creationId xmlns:a16="http://schemas.microsoft.com/office/drawing/2014/main" id="{E4841607-6CCD-B0DD-8440-D72FE29FF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3565" y="1290141"/>
            <a:ext cx="4198071" cy="2767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0EE8F725-5905-9D64-7A33-795EE9FDA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3565" y="4138566"/>
            <a:ext cx="3828617" cy="2573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7326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</a:rPr>
              <a:t>Программные модули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97E0CB0-040A-017B-2099-C9EB69FD6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59" y="1665720"/>
            <a:ext cx="4270086" cy="2739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>
            <a:extLst>
              <a:ext uri="{FF2B5EF4-FFF2-40B4-BE49-F238E27FC236}">
                <a16:creationId xmlns:a16="http://schemas.microsoft.com/office/drawing/2014/main" id="{A380B07A-4E8B-2598-6135-B8222FE46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7345" y="1209675"/>
            <a:ext cx="3978275" cy="260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A6297752-7C9F-A006-887C-E13506F0E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7981" y="4405660"/>
            <a:ext cx="5937639" cy="1935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1457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</a:rPr>
              <a:t>Применяемые меры защиты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241161" y="1384085"/>
            <a:ext cx="3009029" cy="458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150000"/>
              </a:lnSpc>
              <a:spcAft>
                <a:spcPts val="0"/>
              </a:spcAft>
              <a:tabLst>
                <a:tab pos="450215" algn="l"/>
                <a:tab pos="900430" algn="l"/>
                <a:tab pos="990600" algn="l"/>
              </a:tabLs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Разграничение прав доступа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581358" y="1558567"/>
            <a:ext cx="38472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При авторизации ввод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capcha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после первой неудачной авторизации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920287" y="4697583"/>
            <a:ext cx="32438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Скрытие пароля при его вводе 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807777" y="4479566"/>
            <a:ext cx="418822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Удаление записей из справочников осуществляется только после подтверждения </a:t>
            </a:r>
            <a:endParaRPr lang="ru-RU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D62D2FF-FE92-A25F-C8BA-594668AF5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414" y="1987344"/>
            <a:ext cx="2339687" cy="1975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4CCBCE8-223F-6AF2-8DC2-71F0639F8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390" y="2245551"/>
            <a:ext cx="4214392" cy="198420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286DED8-1B08-2530-250B-D80E7AEF7C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0287" y="5384231"/>
            <a:ext cx="3305636" cy="1352739"/>
          </a:xfrm>
          <a:prstGeom prst="rect">
            <a:avLst/>
          </a:prstGeom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3DE06FE7-E40F-346D-8D6C-5114F5062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725" y="5351781"/>
            <a:ext cx="3421063" cy="141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8169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90575" y="1519706"/>
            <a:ext cx="10706100" cy="1421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 процессе написание программного обеспечения использовался язык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# и база данных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MySql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были усовершенствованы навыки в работе с этим языком программирования и базой данных. Также были получены новые знания.</a:t>
            </a: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0" y="450850"/>
            <a:ext cx="12192000" cy="75882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solidFill>
                  <a:schemeClr val="bg1"/>
                </a:solidFill>
              </a:rPr>
              <a:t>Заключение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781051" y="3185484"/>
            <a:ext cx="10706100" cy="3268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Внедрение программного обеспечения в организацию должно происходить постепенно. Сначала будет установлена тестовая версия программы, для изучения работы программы сотрудниками.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 дальнейшем планируется усовершенствования программы. </a:t>
            </a:r>
            <a:r>
              <a:rPr lang="ru-RU" sz="2000" dirty="0">
                <a:latin typeface="Times New Roman"/>
                <a:ea typeface="Calibri"/>
                <a:cs typeface="Times New Roman"/>
              </a:rPr>
              <a:t>Реализовать функции «Импорт» и</a:t>
            </a:r>
            <a:r>
              <a:rPr lang="en-US" sz="2000" dirty="0">
                <a:latin typeface="Times New Roman"/>
                <a:ea typeface="Calibri"/>
                <a:cs typeface="Times New Roman"/>
              </a:rPr>
              <a:t> </a:t>
            </a:r>
            <a:r>
              <a:rPr lang="ru-RU" sz="2000" dirty="0">
                <a:latin typeface="Times New Roman"/>
                <a:ea typeface="Calibri"/>
                <a:cs typeface="Times New Roman"/>
              </a:rPr>
              <a:t>«Экспорт» данных  в других форматах, например .</a:t>
            </a:r>
            <a:r>
              <a:rPr lang="en-US" sz="2000" dirty="0" err="1">
                <a:latin typeface="Times New Roman"/>
                <a:ea typeface="Calibri"/>
                <a:cs typeface="Times New Roman"/>
              </a:rPr>
              <a:t>csv</a:t>
            </a:r>
            <a:r>
              <a:rPr lang="ru-RU" sz="2000" dirty="0">
                <a:latin typeface="Times New Roman"/>
                <a:ea typeface="Calibri"/>
                <a:cs typeface="Times New Roman"/>
              </a:rPr>
              <a:t>;</a:t>
            </a:r>
            <a:r>
              <a:rPr lang="en-US" sz="1600" dirty="0">
                <a:ea typeface="Calibri"/>
                <a:cs typeface="Times New Roman"/>
              </a:rPr>
              <a:t> </a:t>
            </a:r>
            <a:r>
              <a:rPr lang="ru-RU" sz="2000" dirty="0">
                <a:latin typeface="Times New Roman"/>
                <a:ea typeface="Calibri"/>
                <a:cs typeface="Times New Roman"/>
              </a:rPr>
              <a:t>Резервное копирование должно быть</a:t>
            </a:r>
            <a:r>
              <a:rPr lang="en-US" sz="2000" dirty="0">
                <a:latin typeface="Times New Roman"/>
                <a:ea typeface="Calibri"/>
                <a:cs typeface="Times New Roman"/>
              </a:rPr>
              <a:t> </a:t>
            </a:r>
            <a:r>
              <a:rPr lang="ru-RU" sz="2000" dirty="0">
                <a:latin typeface="Times New Roman"/>
                <a:ea typeface="Calibri"/>
                <a:cs typeface="Times New Roman"/>
              </a:rPr>
              <a:t>выполнено как в автоматическом, так и в ручном режиме</a:t>
            </a:r>
            <a:r>
              <a:rPr lang="en-US" sz="2000" dirty="0">
                <a:latin typeface="Times New Roman"/>
                <a:ea typeface="Calibri"/>
                <a:cs typeface="Times New Roman"/>
              </a:rPr>
              <a:t>;</a:t>
            </a:r>
            <a:r>
              <a:rPr lang="ru-RU" sz="2000" dirty="0">
                <a:latin typeface="Times New Roman"/>
                <a:ea typeface="Calibri"/>
                <a:cs typeface="Times New Roman"/>
              </a:rPr>
              <a:t> Пагинация</a:t>
            </a:r>
            <a:r>
              <a:rPr lang="en-US" sz="2000" dirty="0">
                <a:latin typeface="Times New Roman"/>
                <a:ea typeface="Calibri"/>
                <a:cs typeface="Times New Roman"/>
              </a:rPr>
              <a:t>;</a:t>
            </a:r>
            <a:r>
              <a:rPr lang="ru-RU" sz="2000" dirty="0">
                <a:latin typeface="Times New Roman"/>
                <a:ea typeface="Calibri"/>
                <a:cs typeface="Times New Roman"/>
              </a:rPr>
              <a:t> Блокировка системы</a:t>
            </a:r>
            <a:r>
              <a:rPr lang="en-US" sz="2000" dirty="0">
                <a:latin typeface="Times New Roman"/>
                <a:ea typeface="Calibri"/>
                <a:cs typeface="Times New Roman"/>
              </a:rPr>
              <a:t>;</a:t>
            </a:r>
            <a:endParaRPr lang="ru-RU" sz="1600" dirty="0">
              <a:ea typeface="Calibri"/>
              <a:cs typeface="Times New Roman"/>
            </a:endParaRPr>
          </a:p>
          <a:p>
            <a:pPr lvl="0" indent="540385" algn="just">
              <a:lnSpc>
                <a:spcPct val="150000"/>
              </a:lnSpc>
            </a:pP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2614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339</TotalTime>
  <Words>272</Words>
  <Application>Microsoft Office PowerPoint</Application>
  <PresentationFormat>Широкоэкранный</PresentationFormat>
  <Paragraphs>33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Тема Office</vt:lpstr>
      <vt:lpstr>КУРСОВОЙ ПРОЕКТ</vt:lpstr>
      <vt:lpstr>Актуальность темы</vt:lpstr>
      <vt:lpstr>Обоснование выбора среды разработки и способа организации входных и выходных данных</vt:lpstr>
      <vt:lpstr>Диаграмма вариантов использования</vt:lpstr>
      <vt:lpstr>Диаграмма деятельности</vt:lpstr>
      <vt:lpstr>Структура БД – ER-диаграмма</vt:lpstr>
      <vt:lpstr>Программные модули</vt:lpstr>
      <vt:lpstr>Программные модули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Kaelthas Gang</cp:lastModifiedBy>
  <cp:revision>62</cp:revision>
  <dcterms:created xsi:type="dcterms:W3CDTF">2022-06-15T10:15:27Z</dcterms:created>
  <dcterms:modified xsi:type="dcterms:W3CDTF">2026-03-12T19:02:30Z</dcterms:modified>
</cp:coreProperties>
</file>